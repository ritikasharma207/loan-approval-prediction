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DBBB5-580C-4ED9-8F67-6A638B1E9CBE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D3CF-D813-4E7A-BFC6-1B761AC33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0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D3CF-D813-4E7A-BFC6-1B761AC33D8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082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D3CF-D813-4E7A-BFC6-1B761AC33D8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52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6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03504"/>
            <a:ext cx="7772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0A58"/>
                </a:solidFill>
                <a:latin typeface="Georgia"/>
              </a:defRPr>
            </a:pPr>
            <a:r>
              <a:t>Loan Approval</a:t>
            </a:r>
            <a:br/>
            <a:r>
              <a:t>Prediction Using</a:t>
            </a:r>
            <a:br/>
            <a:r>
              <a:t>Support Vector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10128"/>
            <a:ext cx="7223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lang="en-US" sz="1600" dirty="0"/>
              <a:t>A machine learning approach to fair and efficient loan decisions</a:t>
            </a:r>
            <a:endParaRPr sz="1600" dirty="0"/>
          </a:p>
        </p:txBody>
      </p:sp>
      <p:sp>
        <p:nvSpPr>
          <p:cNvPr id="5" name="Oval 4"/>
          <p:cNvSpPr/>
          <p:nvPr/>
        </p:nvSpPr>
        <p:spPr>
          <a:xfrm>
            <a:off x="8549640" y="1188720"/>
            <a:ext cx="2240280" cy="2240280"/>
          </a:xfrm>
          <a:prstGeom prst="ellipse">
            <a:avLst/>
          </a:prstGeom>
          <a:solidFill>
            <a:srgbClr val="F9F8F0"/>
          </a:solidFill>
          <a:ln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87968" y="1527048"/>
            <a:ext cx="1572768" cy="1572768"/>
          </a:xfrm>
          <a:prstGeom prst="ellipse">
            <a:avLst/>
          </a:prstGeom>
          <a:solidFill>
            <a:srgbClr val="EBCFEF"/>
          </a:solidFill>
          <a:ln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08592" y="1938528"/>
            <a:ext cx="731520" cy="731520"/>
          </a:xfrm>
          <a:prstGeom prst="ellipse">
            <a:avLst/>
          </a:prstGeom>
          <a:solidFill>
            <a:srgbClr val="300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65008" y="3858768"/>
            <a:ext cx="3063240" cy="82296"/>
          </a:xfrm>
          <a:prstGeom prst="roundRect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74152" y="4142232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DATA   •   MODEL   •  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17336"/>
            <a:ext cx="8046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Project workflow • applicant data • preprocessing • SVM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DACDC-DDE0-6388-9E54-5F63CC1AC1FC}"/>
              </a:ext>
            </a:extLst>
          </p:cNvPr>
          <p:cNvSpPr txBox="1"/>
          <p:nvPr/>
        </p:nvSpPr>
        <p:spPr>
          <a:xfrm>
            <a:off x="685800" y="5673213"/>
            <a:ext cx="33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By Sharma Ritika Satish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000"/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What this project is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4663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400"/>
              <a:t>The project uses applicant demographic, financial and credit-history information to predict whether a loan application will be approved.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182112"/>
            <a:ext cx="30632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77824" y="330098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7530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Applicant profile + financial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547872"/>
            <a:ext cx="30632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187952" y="366674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941063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Support Vector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282696"/>
            <a:ext cx="3063240" cy="832104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525512" y="330098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357530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Approved / Not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65760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51A7"/>
                </a:solidFill>
                <a:latin typeface="Georgia"/>
              </a:defRPr>
            </a:pPr>
            <a:r>
              <a:rPr sz="2800"/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365760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51A7"/>
                </a:solidFill>
                <a:latin typeface="Georgia"/>
              </a:defRPr>
            </a:pPr>
            <a:r>
              <a:rPr sz="2800"/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956048"/>
            <a:ext cx="9692640" cy="56692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9281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Goal: make loan screening faster, more consistent and data-driven.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6400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900"/>
              <a:t>LOAN APPROVAL PREDICTION  /  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900"/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764792"/>
            <a:ext cx="4800600" cy="1133856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149340" y="1869948"/>
            <a:ext cx="502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900" dirty="0"/>
              <a:t>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9340" y="2020824"/>
            <a:ext cx="4480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00" dirty="0" err="1"/>
              <a:t>loan_dataset</a:t>
            </a:r>
            <a:r>
              <a:rPr sz="1000" dirty="0"/>
              <a:t> = </a:t>
            </a:r>
            <a:r>
              <a:rPr sz="1000" dirty="0" err="1"/>
              <a:t>pd.read_csv</a:t>
            </a:r>
            <a:r>
              <a:rPr sz="1000" dirty="0"/>
              <a:t>(</a:t>
            </a:r>
            <a:br>
              <a:rPr sz="1000" dirty="0"/>
            </a:br>
            <a:r>
              <a:rPr sz="1000" dirty="0"/>
              <a:t>    '/content/dataset.csv'</a:t>
            </a:r>
            <a:br>
              <a:rPr sz="1000" dirty="0"/>
            </a:br>
            <a:r>
              <a:rPr sz="1000" dirty="0"/>
              <a:t>)</a:t>
            </a:r>
            <a:br>
              <a:rPr sz="1000" dirty="0"/>
            </a:br>
            <a:r>
              <a:rPr sz="1000" dirty="0" err="1"/>
              <a:t>loan_dataset.head</a:t>
            </a:r>
            <a:r>
              <a:rPr sz="1000" dirty="0"/>
              <a:t>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7900" y="2980944"/>
            <a:ext cx="46634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000" dirty="0"/>
              <a:t>Load the CSV → inspect the first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200"/>
              <a:t>02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Why prediction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200"/>
              <a:t>Financial institutions handle many applications. Manual review can take time and decisions can vary from one case to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4709160" cy="1691640"/>
          </a:xfrm>
          <a:prstGeom prst="roundRect">
            <a:avLst/>
          </a:prstGeom>
          <a:solidFill>
            <a:srgbClr val="FFFBF6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4160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0A58"/>
                </a:solidFill>
                <a:latin typeface="Georgia"/>
              </a:defRPr>
            </a:pPr>
            <a:r>
              <a:t>“A consistent prediction can support the human decision process.”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331720"/>
            <a:ext cx="48920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062472" y="24505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/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72491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/>
              <a:t>Manual screening is repetitive.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493008"/>
            <a:ext cx="48920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6062472" y="36118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/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8862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/>
              <a:t>Different cases need a common decision framework.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4654296"/>
            <a:ext cx="48920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062472" y="47731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/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504748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/>
              <a:t>Build a high-accuracy predictive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100"/>
              <a:t>LOAN APPROVAL PREDICTION  /  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1100"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050"/>
              <a:t>03 /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What the model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448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/>
              <a:t>The dataset contains applicant, loan and property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5166360" cy="256032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51A7"/>
                </a:solidFill>
                <a:latin typeface="Aptos"/>
              </a:defRPr>
            </a:pPr>
            <a:r>
              <a:rPr sz="1200"/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4526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0A58"/>
                </a:solidFill>
                <a:latin typeface="Aptos"/>
              </a:defRPr>
            </a:pPr>
            <a:r>
              <a:rPr sz="1200" dirty="0"/>
              <a:t>Gender</a:t>
            </a:r>
            <a:br>
              <a:rPr sz="1200" dirty="0"/>
            </a:br>
            <a:r>
              <a:rPr sz="1200" dirty="0"/>
              <a:t>Married</a:t>
            </a:r>
            <a:br>
              <a:rPr sz="1200" dirty="0"/>
            </a:br>
            <a:r>
              <a:rPr sz="1200" dirty="0"/>
              <a:t>Dependents</a:t>
            </a:r>
            <a:br>
              <a:rPr sz="1200" dirty="0"/>
            </a:br>
            <a:r>
              <a:rPr sz="1200" dirty="0"/>
              <a:t>Education</a:t>
            </a:r>
            <a:br>
              <a:rPr sz="1200" dirty="0"/>
            </a:br>
            <a:r>
              <a:rPr sz="1200" dirty="0" err="1"/>
              <a:t>Self_Employed</a:t>
            </a:r>
            <a:endParaRPr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4736592"/>
            <a:ext cx="448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050"/>
              <a:t>Demographic /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743200"/>
            <a:ext cx="4800600" cy="256032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297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E4C"/>
                </a:solidFill>
                <a:latin typeface="Aptos"/>
              </a:defRPr>
            </a:pPr>
            <a:r>
              <a:rPr sz="1200"/>
              <a:t>LOAN + 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337560"/>
            <a:ext cx="4251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0A58"/>
                </a:solidFill>
                <a:latin typeface="Aptos"/>
              </a:defRPr>
            </a:pPr>
            <a:r>
              <a:rPr sz="1200" dirty="0"/>
              <a:t>Applicant</a:t>
            </a:r>
            <a:r>
              <a:rPr lang="en-US" sz="1200" dirty="0"/>
              <a:t> </a:t>
            </a:r>
            <a:r>
              <a:rPr sz="1200" dirty="0"/>
              <a:t>Income</a:t>
            </a:r>
            <a:br>
              <a:rPr sz="1200" dirty="0"/>
            </a:br>
            <a:r>
              <a:rPr sz="1200" dirty="0"/>
              <a:t>Co</a:t>
            </a:r>
            <a:r>
              <a:rPr lang="en-US" sz="1200" dirty="0"/>
              <a:t>-</a:t>
            </a:r>
            <a:r>
              <a:rPr sz="1200" dirty="0"/>
              <a:t>applicant</a:t>
            </a:r>
            <a:r>
              <a:rPr lang="en-US" sz="1200" dirty="0"/>
              <a:t> </a:t>
            </a:r>
            <a:r>
              <a:rPr sz="1200" dirty="0"/>
              <a:t>Income</a:t>
            </a:r>
            <a:br>
              <a:rPr sz="1200" dirty="0"/>
            </a:br>
            <a:r>
              <a:rPr sz="1200" dirty="0"/>
              <a:t>Loan</a:t>
            </a:r>
            <a:r>
              <a:rPr lang="en-US" sz="1200" dirty="0"/>
              <a:t> </a:t>
            </a:r>
            <a:r>
              <a:rPr sz="1200" dirty="0"/>
              <a:t>Amount</a:t>
            </a:r>
            <a:br>
              <a:rPr sz="1200" dirty="0"/>
            </a:br>
            <a:r>
              <a:rPr sz="1200" dirty="0" err="1"/>
              <a:t>Loan_Amount_Term</a:t>
            </a:r>
            <a:br>
              <a:rPr sz="1200" dirty="0"/>
            </a:br>
            <a:r>
              <a:rPr sz="1200" dirty="0" err="1"/>
              <a:t>Credit_History</a:t>
            </a:r>
            <a:br>
              <a:rPr sz="1200" dirty="0"/>
            </a:br>
            <a:r>
              <a:rPr sz="1200" dirty="0" err="1"/>
              <a:t>Property_Area</a:t>
            </a:r>
            <a:endParaRPr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6382512" y="5029200"/>
            <a:ext cx="4206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050"/>
              <a:t>Target: Loan_Status  (0 /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6400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000"/>
              <a:t>LOAN APPROVAL PREDICTION  /  SVM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1000"/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559552"/>
            <a:ext cx="10104120" cy="603504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400" y="560527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00" dirty="0"/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737860"/>
            <a:ext cx="9784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50" dirty="0" err="1"/>
              <a:t>loan_dataset</a:t>
            </a:r>
            <a:r>
              <a:rPr sz="1050" dirty="0"/>
              <a:t> = </a:t>
            </a:r>
            <a:r>
              <a:rPr sz="1050" dirty="0" err="1"/>
              <a:t>pd.read_csv</a:t>
            </a:r>
            <a:r>
              <a:rPr sz="1050" dirty="0"/>
              <a:t>('/content/dataset.csv')</a:t>
            </a:r>
            <a:br>
              <a:rPr sz="1050" dirty="0"/>
            </a:br>
            <a:r>
              <a:rPr sz="1050" dirty="0" err="1"/>
              <a:t>loan_dataset.isnull</a:t>
            </a:r>
            <a:r>
              <a:rPr sz="1050" dirty="0"/>
              <a:t>().sum()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63056"/>
            <a:ext cx="9875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First inspect the dataset and identify missing values</a:t>
            </a:r>
            <a:r>
              <a:rPr sz="10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100"/>
              <a:t>04 /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Turning raw records into usable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92224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 dirty="0"/>
              <a:t>The workflow prepares the data before the SVM sees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331720" cy="196596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850392" y="297180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E4C"/>
                </a:solidFill>
                <a:latin typeface="Aptos"/>
              </a:defRPr>
            </a:pPr>
            <a:r>
              <a:rPr sz="1100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19272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/>
              <a:t>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730752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4565"/>
                </a:solidFill>
                <a:latin typeface="Aptos"/>
              </a:defRPr>
            </a:pPr>
            <a:r>
              <a:rPr sz="1200"/>
              <a:t>Mean / mode imputation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788920"/>
            <a:ext cx="2331720" cy="196596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593592" y="297180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10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319272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/>
              <a:t>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730752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4565"/>
                </a:solidFill>
                <a:latin typeface="Aptos"/>
              </a:defRPr>
            </a:pPr>
            <a:r>
              <a:rPr sz="1200"/>
              <a:t>Categorical → numerical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88920"/>
            <a:ext cx="2331720" cy="196596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336792" y="297180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00A58"/>
                </a:solidFill>
                <a:latin typeface="Aptos"/>
              </a:defRPr>
            </a:pPr>
            <a:r>
              <a:rPr sz="1100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319272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/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730752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4565"/>
                </a:solidFill>
                <a:latin typeface="Aptos"/>
              </a:defRPr>
            </a:pPr>
            <a:r>
              <a:rPr sz="1200"/>
              <a:t>3+ Dependents →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788920"/>
            <a:ext cx="2331720" cy="196596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7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9079992" y="297180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77E7E"/>
                </a:solidFill>
                <a:latin typeface="Aptos"/>
              </a:defRPr>
            </a:pPr>
            <a:r>
              <a:rPr sz="11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319272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/>
              <a:t>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3730752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4565"/>
                </a:solidFill>
                <a:latin typeface="Aptos"/>
              </a:defRPr>
            </a:pPr>
            <a:r>
              <a:rPr sz="1200"/>
              <a:t>StandardScaler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5335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Result → a cleaner, numerical feature space suitable for SVM.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6400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050"/>
              <a:t>LOAN APPROVAL PREDICTION  / 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1050"/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21414"/>
            <a:ext cx="5349240" cy="1005840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877824" y="5559552"/>
            <a:ext cx="656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50" dirty="0"/>
              <a:t>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594052"/>
            <a:ext cx="424281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100" dirty="0" err="1"/>
              <a:t>loan_dataset</a:t>
            </a:r>
            <a:r>
              <a:rPr sz="1100" dirty="0"/>
              <a:t> = </a:t>
            </a:r>
            <a:r>
              <a:rPr sz="1100" dirty="0" err="1"/>
              <a:t>loan_dataset.dropna</a:t>
            </a:r>
            <a:r>
              <a:rPr sz="1100" dirty="0"/>
              <a:t>()</a:t>
            </a:r>
            <a:br>
              <a:rPr sz="1100" dirty="0"/>
            </a:br>
            <a:r>
              <a:rPr sz="1100" dirty="0" err="1"/>
              <a:t>loan_dataset.replace</a:t>
            </a:r>
            <a:r>
              <a:rPr sz="1100" dirty="0"/>
              <a:t>(</a:t>
            </a:r>
            <a:br>
              <a:rPr sz="1100" dirty="0"/>
            </a:br>
            <a:r>
              <a:rPr sz="1100" dirty="0"/>
              <a:t>    {"</a:t>
            </a:r>
            <a:r>
              <a:rPr sz="1100" dirty="0" err="1"/>
              <a:t>Loan_Status</a:t>
            </a:r>
            <a:r>
              <a:rPr sz="1100" dirty="0"/>
              <a:t>": {'N':0,'Y':1}},</a:t>
            </a:r>
            <a:br>
              <a:rPr sz="1100" dirty="0"/>
            </a:br>
            <a:r>
              <a:rPr sz="1100" dirty="0"/>
              <a:t>    </a:t>
            </a:r>
            <a:r>
              <a:rPr sz="1100" dirty="0" err="1"/>
              <a:t>inplace</a:t>
            </a:r>
            <a:r>
              <a:rPr sz="1100" dirty="0"/>
              <a:t>=True</a:t>
            </a:r>
            <a:br>
              <a:rPr sz="1100" dirty="0"/>
            </a:br>
            <a:r>
              <a:rPr sz="1100" dirty="0"/>
              <a:t>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5369604"/>
            <a:ext cx="5074920" cy="923544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6400800" y="5559552"/>
            <a:ext cx="6583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50" dirty="0"/>
              <a:t>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0543" y="5513386"/>
            <a:ext cx="51328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100"/>
              <a:t>loan_dataset = loan_dataset.replace(</a:t>
            </a:r>
            <a:br>
              <a:rPr sz="1100"/>
            </a:br>
            <a:r>
              <a:rPr sz="1100"/>
              <a:t>    to_replace='3+', value=4</a:t>
            </a:r>
            <a:br>
              <a:rPr sz="1100"/>
            </a:br>
            <a:r>
              <a:rPr sz="110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05 /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Looking for patterns before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92224"/>
            <a:ext cx="6135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 dirty="0"/>
              <a:t>EDA checks how applicant characteristics relate to loan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88920"/>
            <a:ext cx="4983480" cy="251460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t>EDUCATION × LOAN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86200"/>
            <a:ext cx="420624" cy="914400"/>
          </a:xfrm>
          <a:prstGeom prst="roundRect">
            <a:avLst/>
          </a:prstGeom>
          <a:solidFill>
            <a:srgbClr val="FF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20240" y="3383280"/>
            <a:ext cx="420624" cy="1417320"/>
          </a:xfrm>
          <a:prstGeom prst="roundRect">
            <a:avLst/>
          </a:prstGeom>
          <a:solidFill>
            <a:srgbClr val="F7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3657600"/>
            <a:ext cx="420624" cy="1143000"/>
          </a:xfrm>
          <a:prstGeom prst="roundRect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66160" y="2926080"/>
            <a:ext cx="420624" cy="1874519"/>
          </a:xfrm>
          <a:prstGeom prst="roundRect">
            <a:avLst/>
          </a:prstGeom>
          <a:solidFill>
            <a:srgbClr val="300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4434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4565"/>
                </a:solidFill>
                <a:latin typeface="Aptos"/>
              </a:defRPr>
            </a:pPr>
            <a:r>
              <a:t>Count plot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788920"/>
            <a:ext cx="4983480" cy="251460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293650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dirty="0"/>
              <a:t>MARRIED × LOAN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420624" cy="1234440"/>
          </a:xfrm>
          <a:prstGeom prst="roundRect">
            <a:avLst/>
          </a:prstGeom>
          <a:solidFill>
            <a:srgbClr val="EEC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9480" y="2971799"/>
            <a:ext cx="420624" cy="1828800"/>
          </a:xfrm>
          <a:prstGeom prst="roundRect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39"/>
            <a:ext cx="420624" cy="1051560"/>
          </a:xfrm>
          <a:prstGeom prst="roundRect">
            <a:avLst/>
          </a:prstGeom>
          <a:solidFill>
            <a:srgbClr val="FF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200400"/>
            <a:ext cx="420624" cy="1600200"/>
          </a:xfrm>
          <a:prstGeom prst="roundRect">
            <a:avLst/>
          </a:prstGeom>
          <a:solidFill>
            <a:srgbClr val="300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4983480"/>
            <a:ext cx="4434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4565"/>
                </a:solidFill>
                <a:latin typeface="Aptos"/>
              </a:defRPr>
            </a:pPr>
            <a:r>
              <a:t>Count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468112"/>
            <a:ext cx="10104120" cy="694944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6035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00" dirty="0"/>
              <a:t>CODE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417320" y="5503017"/>
            <a:ext cx="9784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50" dirty="0" err="1"/>
              <a:t>sns.countplot</a:t>
            </a:r>
            <a:r>
              <a:rPr sz="1050" dirty="0"/>
              <a:t>(x='Education', hue='</a:t>
            </a:r>
            <a:r>
              <a:rPr sz="1050" dirty="0" err="1"/>
              <a:t>Loan_Status</a:t>
            </a:r>
            <a:r>
              <a:rPr sz="1050" dirty="0"/>
              <a:t>', data=</a:t>
            </a:r>
            <a:r>
              <a:rPr sz="1050" dirty="0" err="1"/>
              <a:t>loan_dataset</a:t>
            </a:r>
            <a:r>
              <a:rPr sz="1050" dirty="0"/>
              <a:t>)</a:t>
            </a:r>
            <a:br>
              <a:rPr sz="1050" dirty="0"/>
            </a:br>
            <a:r>
              <a:rPr sz="1050" dirty="0" err="1"/>
              <a:t>sns.countplot</a:t>
            </a:r>
            <a:r>
              <a:rPr sz="1050" dirty="0"/>
              <a:t>(x='Married', hue='</a:t>
            </a:r>
            <a:r>
              <a:rPr sz="1050" dirty="0" err="1"/>
              <a:t>Loan_Status</a:t>
            </a:r>
            <a:r>
              <a:rPr sz="1050" dirty="0"/>
              <a:t>', data=</a:t>
            </a:r>
            <a:r>
              <a:rPr sz="1050" dirty="0" err="1"/>
              <a:t>loan_dataset</a:t>
            </a:r>
            <a:r>
              <a:rPr sz="1050" dirty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54496"/>
            <a:ext cx="9875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900" dirty="0"/>
              <a:t>The plots in the presentation are generated directly from these commands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06 / 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Choosing the SVM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480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 dirty="0"/>
              <a:t>Support Vector Machine is used as the main classifier, with a linear kernel and an RBF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07792"/>
            <a:ext cx="5120640" cy="228600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70432" y="4069080"/>
            <a:ext cx="4206240" cy="41148"/>
          </a:xfrm>
          <a:prstGeom prst="roundRect">
            <a:avLst/>
          </a:prstGeom>
          <a:solidFill>
            <a:srgbClr val="300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08760" y="3401568"/>
            <a:ext cx="164592" cy="164592"/>
          </a:xfrm>
          <a:prstGeom prst="ellipse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11680" y="3703320"/>
            <a:ext cx="164592" cy="164592"/>
          </a:xfrm>
          <a:prstGeom prst="ellipse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0" y="3246120"/>
            <a:ext cx="164592" cy="164592"/>
          </a:xfrm>
          <a:prstGeom prst="ellipse">
            <a:avLst/>
          </a:prstGeom>
          <a:solidFill>
            <a:srgbClr val="E75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20" y="4572000"/>
            <a:ext cx="164592" cy="164592"/>
          </a:xfrm>
          <a:prstGeom prst="ellipse">
            <a:avLst/>
          </a:prstGeom>
          <a:solidFill>
            <a:srgbClr val="FF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60520" y="4224528"/>
            <a:ext cx="164592" cy="164592"/>
          </a:xfrm>
          <a:prstGeom prst="ellipse">
            <a:avLst/>
          </a:prstGeom>
          <a:solidFill>
            <a:srgbClr val="FF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09160" y="4617720"/>
            <a:ext cx="164592" cy="164592"/>
          </a:xfrm>
          <a:prstGeom prst="ellipse">
            <a:avLst/>
          </a:prstGeom>
          <a:solidFill>
            <a:srgbClr val="FF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4565"/>
                </a:solidFill>
                <a:latin typeface="Aptos"/>
              </a:defRPr>
            </a:pPr>
            <a:r>
              <a:t>linear decision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93282"/>
            <a:ext cx="46634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891235"/>
            <a:ext cx="4343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9176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Linear (main model) • RBF tested for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3073499"/>
            <a:ext cx="46634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335" y="3152001"/>
            <a:ext cx="4343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6613" y="3442151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90% training / 10%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383" y="4439978"/>
            <a:ext cx="466344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531958"/>
            <a:ext cx="4343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STRATIFIED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9302" y="4851530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Keeps class proportions represented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504688"/>
            <a:ext cx="5166360" cy="941832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5596127"/>
            <a:ext cx="6309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00" dirty="0"/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5539759"/>
            <a:ext cx="484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00" dirty="0"/>
              <a:t>X = </a:t>
            </a:r>
            <a:r>
              <a:rPr sz="1000" dirty="0" err="1"/>
              <a:t>loan_dataset.drop</a:t>
            </a:r>
            <a:r>
              <a:rPr sz="1000" dirty="0"/>
              <a:t>(</a:t>
            </a:r>
            <a:br>
              <a:rPr sz="1000" dirty="0"/>
            </a:br>
            <a:r>
              <a:rPr sz="1000" dirty="0"/>
              <a:t>    columns=['Loan_ID','</a:t>
            </a:r>
            <a:r>
              <a:rPr sz="1000" dirty="0" err="1"/>
              <a:t>Loan_Status</a:t>
            </a:r>
            <a:r>
              <a:rPr sz="1000" dirty="0"/>
              <a:t>']</a:t>
            </a:r>
            <a:br>
              <a:rPr sz="1000" dirty="0"/>
            </a:br>
            <a:r>
              <a:rPr sz="1000" dirty="0"/>
              <a:t>)</a:t>
            </a:r>
            <a:br>
              <a:rPr sz="1000" dirty="0"/>
            </a:br>
            <a:r>
              <a:rPr sz="1000" dirty="0"/>
              <a:t>Y = </a:t>
            </a:r>
            <a:r>
              <a:rPr sz="1000" dirty="0" err="1"/>
              <a:t>loan_dataset</a:t>
            </a:r>
            <a:r>
              <a:rPr sz="1000" dirty="0"/>
              <a:t>['</a:t>
            </a:r>
            <a:r>
              <a:rPr sz="1000" dirty="0" err="1"/>
              <a:t>Loan_Status</a:t>
            </a:r>
            <a:r>
              <a:rPr sz="1000" dirty="0"/>
              <a:t>']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5466417"/>
            <a:ext cx="5166360" cy="955154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6138" y="5617872"/>
            <a:ext cx="711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00" dirty="0"/>
              <a:t>CODE</a:t>
            </a:r>
            <a:endParaRPr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6807708" y="5597773"/>
            <a:ext cx="4846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900" dirty="0" err="1"/>
              <a:t>X_train</a:t>
            </a:r>
            <a:r>
              <a:rPr sz="900" dirty="0"/>
              <a:t>, </a:t>
            </a:r>
            <a:r>
              <a:rPr sz="900" dirty="0" err="1"/>
              <a:t>X_test</a:t>
            </a:r>
            <a:r>
              <a:rPr sz="900" dirty="0"/>
              <a:t>, </a:t>
            </a:r>
            <a:r>
              <a:rPr sz="900" dirty="0" err="1"/>
              <a:t>Y_train</a:t>
            </a:r>
            <a:r>
              <a:rPr sz="900" dirty="0"/>
              <a:t>, </a:t>
            </a:r>
            <a:r>
              <a:rPr sz="900" dirty="0" err="1"/>
              <a:t>Y_test</a:t>
            </a:r>
            <a:r>
              <a:rPr sz="900" dirty="0"/>
              <a:t> = </a:t>
            </a:r>
            <a:r>
              <a:rPr sz="900" dirty="0" err="1"/>
              <a:t>train_test_split</a:t>
            </a:r>
            <a:r>
              <a:rPr sz="900" dirty="0"/>
              <a:t>(</a:t>
            </a:r>
            <a:br>
              <a:rPr sz="900" dirty="0"/>
            </a:br>
            <a:r>
              <a:rPr sz="900" dirty="0"/>
              <a:t>    X, Y, </a:t>
            </a:r>
            <a:r>
              <a:rPr sz="900" dirty="0" err="1"/>
              <a:t>test_size</a:t>
            </a:r>
            <a:r>
              <a:rPr sz="900" dirty="0"/>
              <a:t>=0.1, stratify=Y, </a:t>
            </a:r>
            <a:r>
              <a:rPr sz="900" dirty="0" err="1"/>
              <a:t>random_state</a:t>
            </a:r>
            <a:r>
              <a:rPr sz="900" dirty="0"/>
              <a:t>=2</a:t>
            </a:r>
            <a:br>
              <a:rPr sz="900" dirty="0"/>
            </a:br>
            <a:r>
              <a:rPr sz="900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07 /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The core training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41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400" dirty="0"/>
              <a:t>The classifier learns a separating boundary from the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88920"/>
            <a:ext cx="6400800" cy="2148840"/>
          </a:xfrm>
          <a:prstGeom prst="roundRect">
            <a:avLst/>
          </a:prstGeom>
          <a:solidFill>
            <a:srgbClr val="260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127248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classifier = svm.SVC(kernel='linear')</a:t>
            </a:r>
            <a:br/>
            <a:br/>
            <a:r>
              <a:t>classifier.fit(X_train, Y_train)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788920"/>
            <a:ext cx="3657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16952" y="2907791"/>
            <a:ext cx="333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 err="1"/>
              <a:t>X_train</a:t>
            </a:r>
            <a:r>
              <a:rPr sz="1200" dirty="0"/>
              <a:t> / </a:t>
            </a:r>
            <a:r>
              <a:rPr sz="1200" dirty="0" err="1"/>
              <a:t>Y_train</a:t>
            </a:r>
            <a:endParaRPr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616952" y="3182112"/>
            <a:ext cx="3337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Features and labels used for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959352"/>
            <a:ext cx="3657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4078224"/>
            <a:ext cx="333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352544"/>
            <a:ext cx="3337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The SVM learns the decision boundary.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t>Then → predict on unseen X_test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230368"/>
            <a:ext cx="10561320" cy="932688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5321807"/>
            <a:ext cx="502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900" dirty="0"/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559552"/>
            <a:ext cx="10241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00" dirty="0"/>
              <a:t>classifier = </a:t>
            </a:r>
            <a:r>
              <a:rPr sz="1000" dirty="0" err="1"/>
              <a:t>svm.SVC</a:t>
            </a:r>
            <a:r>
              <a:rPr sz="1000" dirty="0"/>
              <a:t>(kernel='linear')</a:t>
            </a:r>
            <a:br>
              <a:rPr sz="1000" dirty="0"/>
            </a:br>
            <a:r>
              <a:rPr sz="1000" dirty="0" err="1"/>
              <a:t>classifier.fit</a:t>
            </a:r>
            <a:r>
              <a:rPr sz="1000" dirty="0"/>
              <a:t>(</a:t>
            </a:r>
            <a:r>
              <a:rPr sz="1000" dirty="0" err="1"/>
              <a:t>X_train</a:t>
            </a:r>
            <a:r>
              <a:rPr sz="1000" dirty="0"/>
              <a:t>, </a:t>
            </a:r>
            <a:r>
              <a:rPr sz="1000" dirty="0" err="1"/>
              <a:t>Y_train</a:t>
            </a:r>
            <a:r>
              <a:rPr sz="1000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36208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This is the key model-training step used in the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rPr sz="1050"/>
              <a:t>08 /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838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Checking whether it generalizes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754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/>
              <a:t>Evaluation compares training performance with unseen test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4800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877824" y="286207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36392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Overall correct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2472" y="2743200"/>
            <a:ext cx="4800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227064" y="286207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Precision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227064" y="3136392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Quality of positive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069080"/>
            <a:ext cx="4800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877824" y="418795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Recall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77824" y="4462272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How many positives are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4069080"/>
            <a:ext cx="480060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7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227064" y="418795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400" dirty="0"/>
              <a:t>F1-score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227064" y="4462272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Balance of precision +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6400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000"/>
              <a:t>LOAN APPROVAL PREDICTION  /  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1000"/>
              <a:t>09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230368"/>
            <a:ext cx="10561320" cy="932688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77824" y="5321807"/>
            <a:ext cx="813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00" dirty="0"/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6679" y="5312664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50" dirty="0"/>
              <a:t>X_test_prediction = </a:t>
            </a:r>
            <a:r>
              <a:rPr sz="1050" dirty="0" err="1"/>
              <a:t>classifier.predict</a:t>
            </a:r>
            <a:r>
              <a:rPr sz="1050" dirty="0"/>
              <a:t>(</a:t>
            </a:r>
            <a:r>
              <a:rPr sz="1050" dirty="0" err="1"/>
              <a:t>X_test</a:t>
            </a:r>
            <a:r>
              <a:rPr sz="1050" dirty="0"/>
              <a:t>)</a:t>
            </a:r>
            <a:br>
              <a:rPr sz="1050" dirty="0"/>
            </a:br>
            <a:r>
              <a:rPr sz="1050" dirty="0" err="1"/>
              <a:t>test_data_accuray</a:t>
            </a:r>
            <a:r>
              <a:rPr sz="1050" dirty="0"/>
              <a:t> = </a:t>
            </a:r>
            <a:r>
              <a:rPr sz="1050" dirty="0" err="1"/>
              <a:t>accuracy_score</a:t>
            </a:r>
            <a:r>
              <a:rPr sz="1050" dirty="0"/>
              <a:t>(</a:t>
            </a:r>
            <a:br>
              <a:rPr sz="1050" dirty="0"/>
            </a:br>
            <a:r>
              <a:rPr sz="1050" dirty="0"/>
              <a:t>    X_test_prediction, </a:t>
            </a:r>
            <a:r>
              <a:rPr sz="1050" dirty="0" err="1"/>
              <a:t>Y_test</a:t>
            </a:r>
            <a:br>
              <a:rPr sz="1050" dirty="0"/>
            </a:br>
            <a:r>
              <a:rPr sz="1050" dirty="0"/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76225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rPr sz="1100" dirty="0"/>
              <a:t>Predictions are compared with the true test labels to calculate accuracy</a:t>
            </a:r>
            <a:r>
              <a:rPr sz="10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09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What the model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783080"/>
            <a:ext cx="5901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400" dirty="0"/>
              <a:t>The reported results show a useful baseline for loan approval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43200"/>
            <a:ext cx="4389120" cy="214884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27248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4565"/>
                </a:solidFill>
                <a:latin typeface="Aptos"/>
              </a:defRPr>
            </a:pPr>
            <a:r>
              <a:rPr sz="1050" dirty="0"/>
              <a:t>TRAINING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300A58"/>
                </a:solidFill>
                <a:latin typeface="Georgia"/>
              </a:defRPr>
            </a:pPr>
            <a:r>
              <a:t>≈ 82%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743200"/>
            <a:ext cx="4389120" cy="214884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3072384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4565"/>
                </a:solidFill>
                <a:latin typeface="Aptos"/>
              </a:defRPr>
            </a:pPr>
            <a:r>
              <a:rPr sz="1050" dirty="0"/>
              <a:t>TEST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5204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E751A7"/>
                </a:solidFill>
                <a:latin typeface="Georgia"/>
              </a:defRPr>
            </a:pPr>
            <a:r>
              <a:t>≈ 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000" dirty="0"/>
              <a:t>The gap is modest, suggesting reasonable generalization on the test split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504687"/>
            <a:ext cx="10058400" cy="694945"/>
          </a:xfrm>
          <a:prstGeom prst="roundRect">
            <a:avLst/>
          </a:prstGeom>
          <a:solidFill>
            <a:srgbClr val="260848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399" y="5596127"/>
            <a:ext cx="8947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51A7"/>
                </a:solidFill>
                <a:latin typeface="Aptos"/>
              </a:defRPr>
            </a:pPr>
            <a:r>
              <a:rPr sz="1050" dirty="0"/>
              <a:t>RESULT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703832" y="5596127"/>
            <a:ext cx="9738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rPr sz="1050" dirty="0" err="1"/>
              <a:t>training_data_accuray</a:t>
            </a:r>
            <a:r>
              <a:rPr sz="1050" dirty="0"/>
              <a:t> = </a:t>
            </a:r>
            <a:r>
              <a:rPr sz="1050" dirty="0" err="1"/>
              <a:t>accuracy_score</a:t>
            </a:r>
            <a:r>
              <a:rPr sz="1050" dirty="0"/>
              <a:t>(</a:t>
            </a:r>
            <a:r>
              <a:rPr sz="1050" dirty="0" err="1"/>
              <a:t>X_train_prediction</a:t>
            </a:r>
            <a:r>
              <a:rPr sz="1050" dirty="0"/>
              <a:t>, </a:t>
            </a:r>
            <a:r>
              <a:rPr sz="1050" dirty="0" err="1"/>
              <a:t>Y_train</a:t>
            </a:r>
            <a:r>
              <a:rPr sz="1050" dirty="0"/>
              <a:t>)</a:t>
            </a:r>
            <a:br>
              <a:rPr sz="1050" dirty="0"/>
            </a:br>
            <a:r>
              <a:rPr sz="1050" dirty="0" err="1"/>
              <a:t>test_data_accuray</a:t>
            </a:r>
            <a:r>
              <a:rPr sz="1050" dirty="0"/>
              <a:t> = </a:t>
            </a:r>
            <a:r>
              <a:rPr sz="1050" dirty="0" err="1"/>
              <a:t>accuracy_score</a:t>
            </a:r>
            <a:r>
              <a:rPr sz="1050" dirty="0"/>
              <a:t>(X_test_prediction, </a:t>
            </a:r>
            <a:r>
              <a:rPr sz="1050" dirty="0" err="1"/>
              <a:t>Y_test</a:t>
            </a:r>
            <a:r>
              <a:rPr sz="1050"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10 /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Where this workflow can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783080"/>
            <a:ext cx="8045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 dirty="0"/>
              <a:t>The model is best viewed as decision support rather than a replacement for responsible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43200"/>
            <a:ext cx="333756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400" dirty="0"/>
              <a:t>Support repetitive loan screening.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337560"/>
            <a:ext cx="333756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3456432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EFFICIENCY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07992" y="3730752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400" dirty="0"/>
              <a:t>Reduce manual workload.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2743200"/>
            <a:ext cx="333756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1583" y="2862072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3136392"/>
            <a:ext cx="3017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400" dirty="0"/>
              <a:t>Apply the same predictive process to cases.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" y="5137035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Applicant data  →  prediction  →  human review  →  final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51A7"/>
                </a:solidFill>
                <a:latin typeface="Aptos"/>
              </a:defRPr>
            </a:pPr>
            <a:r>
              <a:t>11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0A58"/>
                </a:solidFill>
                <a:latin typeface="Georgia"/>
              </a:defRPr>
            </a:pPr>
            <a:r>
              <a:t>A practical baseline with room to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708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4565"/>
                </a:solidFill>
                <a:latin typeface="Aptos"/>
              </a:defRPr>
            </a:pPr>
            <a:r>
              <a:rPr sz="1600" dirty="0"/>
              <a:t>The SVM provides a reliable starting point. Better feature engineering and model tuning could improve the next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07792"/>
            <a:ext cx="324612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3026664"/>
            <a:ext cx="2926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00984"/>
            <a:ext cx="2926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Structured preprocessing + SVM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246120"/>
            <a:ext cx="324612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E75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3364991"/>
            <a:ext cx="2926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WHAT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639312"/>
            <a:ext cx="2926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Evaluate precision / recall, not accuracy 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907792"/>
            <a:ext cx="3246120" cy="932688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FF8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026664"/>
            <a:ext cx="2926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00A58"/>
                </a:solidFill>
                <a:latin typeface="Aptos"/>
              </a:defRPr>
            </a:pPr>
            <a:r>
              <a:rPr sz="1200" dirty="0"/>
              <a:t>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00984"/>
            <a:ext cx="2926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4565"/>
                </a:solidFill>
                <a:latin typeface="Aptos"/>
              </a:defRPr>
            </a:pPr>
            <a:r>
              <a:rPr sz="1200" dirty="0"/>
              <a:t>Tuning • ensembles • feature 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9829800" cy="502920"/>
          </a:xfrm>
          <a:prstGeom prst="roundRect">
            <a:avLst/>
          </a:prstGeom>
          <a:solidFill>
            <a:srgbClr val="F9F8F0"/>
          </a:solidFill>
          <a:ln w="12700">
            <a:solidFill>
              <a:srgbClr val="300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221224"/>
            <a:ext cx="9555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00A58"/>
                </a:solidFill>
                <a:latin typeface="Aptos"/>
              </a:defRPr>
            </a:pPr>
            <a:r>
              <a:rPr sz="1000" dirty="0"/>
              <a:t>COLLECT → PREPROCESS → EXPLORE → TRAIN → EVALUATE → 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4565"/>
                </a:solidFill>
                <a:latin typeface="Aptos"/>
              </a:defRPr>
            </a:pPr>
            <a:r>
              <a:t>LOAN APPROVAL PREDICTION  /  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300A58"/>
                </a:solidFill>
                <a:latin typeface="Aptos"/>
              </a:defRPr>
            </a:pPr>
            <a:r>
              <a:rPr sz="1100" dirty="0"/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1111</Words>
  <Application>Microsoft Office PowerPoint</Application>
  <PresentationFormat>Widescreen</PresentationFormat>
  <Paragraphs>168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sharma207ritika@gmail.com</cp:lastModifiedBy>
  <cp:revision>26</cp:revision>
  <dcterms:created xsi:type="dcterms:W3CDTF">2013-01-27T09:14:16Z</dcterms:created>
  <dcterms:modified xsi:type="dcterms:W3CDTF">2026-08-25T15:35:06Z</dcterms:modified>
  <cp:category/>
</cp:coreProperties>
</file>